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1503376557e4f69" /><Relationship Type="http://schemas.openxmlformats.org/officeDocument/2006/relationships/extended-properties" Target="/docProps/app.xml" Id="Rf670f48982e94c0f" /><Relationship Type="http://schemas.openxmlformats.org/officeDocument/2006/relationships/officeDocument" Target="/ppt/presentation.xml" Id="R3649c34171bc411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d4ec7ae60484cfe"/>
  </p:sldMasterIdLst>
  <p:notesMasterIdLst>
    <p:notesMasterId xmlns:r="http://schemas.openxmlformats.org/officeDocument/2006/relationships" r:id="R15736a1962614aa9"/>
  </p:notesMasterIdLst>
  <p:sldIdLst>
    <p:sldId xmlns:r="http://schemas.openxmlformats.org/officeDocument/2006/relationships" id="256" r:id="R981b87e8541a42da"/>
    <p:sldId xmlns:r="http://schemas.openxmlformats.org/officeDocument/2006/relationships" id="257" r:id="R78f5bea95d764cd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1bb6bc930424fcc" /><Relationship Type="http://schemas.openxmlformats.org/officeDocument/2006/relationships/slideMaster" Target="/ppt/slideMasters/slideMaster1.xml" Id="R0d4ec7ae60484cfe" /><Relationship Type="http://schemas.openxmlformats.org/officeDocument/2006/relationships/notesMaster" Target="/ppt/notesMasters/notesMaster1.xml" Id="R15736a1962614aa9" /><Relationship Type="http://schemas.openxmlformats.org/officeDocument/2006/relationships/presProps" Target="/ppt/presProps.xml" Id="R8b235069f2b5452e" /><Relationship Type="http://schemas.openxmlformats.org/officeDocument/2006/relationships/viewProps" Target="/ppt/viewProps.xml" Id="R536506ebcb954b5c" /><Relationship Type="http://schemas.openxmlformats.org/officeDocument/2006/relationships/tableStyles" Target="/ppt/tableStyles.xml" Id="Rfb03a5f16bca494d" /><Relationship Type="http://schemas.openxmlformats.org/officeDocument/2006/relationships/slide" Target="/ppt/slides/slide1.xml" Id="R981b87e8541a42da" /><Relationship Type="http://schemas.openxmlformats.org/officeDocument/2006/relationships/slide" Target="/ppt/slides/slide2.xml" Id="R78f5bea95d764cd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785243aff8b492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6e6f0939bbd4775" /><Relationship Type="http://schemas.openxmlformats.org/officeDocument/2006/relationships/notesMaster" Target="/ppt/notesMasters/notesMaster1.xml" Id="Rff6b6f02694e4a7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8fe3ecda8204c8a" /><Relationship Type="http://schemas.openxmlformats.org/officeDocument/2006/relationships/notesMaster" Target="/ppt/notesMasters/notesMaster1.xml" Id="R7e11191e028f465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VAVE-DG 2.0 workbook and latest user-provided screenshots. Level 2 and Level 3 headings retained as slide headlines/rows.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VAVE-DG 2.0 workbook and latest user-provided screenshots. Level 2 and Level 3 headings retained as slide headlines/rows.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6e602b7a7b445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e5ce2f00284c0f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CDA40437-616C-4B67-A71C-4CFD5C2A396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7/10/2026</a:t>
            </a:fld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D39CEBAB-B439-4691-826D-E02B0AD4276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9C541E97-D0E9-43A8-B6FA-9946B155522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47e98554aa943b2" /><Relationship Type="http://schemas.openxmlformats.org/officeDocument/2006/relationships/slideLayout" Target="/ppt/slideLayouts/slideLayout1.xml" Id="Rbca3ecca64bf4a59" /><Relationship Type="http://schemas.openxmlformats.org/officeDocument/2006/relationships/slideLayout" Target="/ppt/slideLayouts/slideLayout2.xml" Id="Rb313965c0324490b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ca3ecca64bf4a59"/>
    <p:sldLayoutId xmlns:r="http://schemas.openxmlformats.org/officeDocument/2006/relationships" id="2147483650" r:id="Rb313965c0324490b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a013f7e0df4242" /><Relationship Type="http://schemas.openxmlformats.org/officeDocument/2006/relationships/notesSlide" Target="/ppt/notesSlides/notesSlide1.xml" Id="Ra166d1a3010345d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8771aa1cfb4a9f" /><Relationship Type="http://schemas.openxmlformats.org/officeDocument/2006/relationships/notesSlide" Target="/ppt/notesSlides/notesSlide2.xml" Id="R6443ac359d5a40d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39ACC8F-9CA7-4AC4-9F23-E074ABCA2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217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>
            <a:solidFill>
              <a:srgbClr val="1F4E7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C85C7C12-7896-4E34-B169-ED89CA6A5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137160"/>
            <a:ext cx="7406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Cassette VAVE activities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9E23528D-3FDB-43D3-A55B-8DBF031CD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914400"/>
            <a:ext cx="11365992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72C4"/>
          </a:solidFill>
          <a:ln xmlns:a="http://schemas.openxmlformats.org/drawingml/2006/main">
            <a:solidFill>
              <a:srgbClr val="4472C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29624941-14AE-457B-A633-73B4FE02B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68327"/>
            <a:ext cx="1738425" cy="1938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Cassette VAVE activities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E6D5209A-53C3-4868-B8BC-50BF92AB1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0" y="996696"/>
            <a:ext cx="1737360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Total: $257.76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2AF1FD03-0C86-4327-A42D-503B2BF5F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508760"/>
            <a:ext cx="5532120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F7"/>
          </a:solidFill>
          <a:ln xmlns:a="http://schemas.openxmlformats.org/drawingml/2006/main">
            <a:solidFill>
              <a:srgbClr val="D9D9D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99D4BDBA-26BA-4D15-92B4-53D335F26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1541499"/>
            <a:ext cx="679738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 i="0">
                <a:solidFill>
                  <a:srgbClr val="202020"/>
                </a:solidFill>
                <a:latin typeface="Aptos"/>
                <a:ea typeface="Aptos"/>
                <a:cs typeface="Aptos"/>
              </a:rPr>
              <a:t>Task Name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6901B249-CCFD-4644-90FC-D764F759F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5612" y="1541499"/>
            <a:ext cx="485774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 b="1" i="0">
                <a:solidFill>
                  <a:srgbClr val="202020"/>
                </a:solidFill>
                <a:latin typeface="Aptos"/>
                <a:ea typeface="Aptos"/>
                <a:cs typeface="Aptos"/>
              </a:rPr>
              <a:t>Savings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3172212E-F5C0-4A0A-BB19-F960E114F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4711" y="1541499"/>
            <a:ext cx="259751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 i="0">
                <a:solidFill>
                  <a:srgbClr val="202020"/>
                </a:solidFill>
                <a:latin typeface="Aptos"/>
                <a:ea typeface="Aptos"/>
                <a:cs typeface="Aptos"/>
              </a:rPr>
              <a:t>End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0401440E-DB0B-4B81-A981-1EA7042BB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7183" y="1541499"/>
            <a:ext cx="415242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 i="0">
                <a:solidFill>
                  <a:srgbClr val="202020"/>
                </a:solidFill>
                <a:latin typeface="Aptos"/>
                <a:ea typeface="Aptos"/>
                <a:cs typeface="Aptos"/>
              </a:rPr>
              <a:t>Status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021B47AC-06AA-4EB5-A177-799851FF7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65376"/>
            <a:ext cx="5532120" cy="5852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A"/>
          </a:solidFill>
          <a:ln xmlns:a="http://schemas.openxmlformats.org/drawingml/2006/main">
            <a:solidFill>
              <a:srgbClr val="F2F5F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3D39A9C7-D72E-4D53-BF52-4A4579D29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2094712"/>
            <a:ext cx="1231171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 i="0">
                <a:solidFill>
                  <a:srgbClr val="202020"/>
                </a:solidFill>
                <a:latin typeface="Aptos"/>
                <a:ea typeface="Aptos"/>
                <a:cs typeface="Aptos"/>
              </a:rPr>
              <a:t>CAP Tube testing - MT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8AB50D52-A2F7-44E5-B4EC-E5CCED778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1335" y="2021560"/>
            <a:ext cx="420051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 b="1" i="0">
                <a:solidFill>
                  <a:srgbClr val="202020"/>
                </a:solidFill>
                <a:latin typeface="Aptos"/>
                <a:ea typeface="Aptos"/>
                <a:cs typeface="Aptos"/>
              </a:rPr>
              <a:t>$28.00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C942FF68-2BB1-4128-A314-8FBDE568E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3484" y="2021560"/>
            <a:ext cx="537071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0" i="0">
                <a:solidFill>
                  <a:srgbClr val="202020"/>
                </a:solidFill>
                <a:latin typeface="Aptos"/>
                <a:ea typeface="Aptos"/>
                <a:cs typeface="Aptos"/>
              </a:rPr>
              <a:t>9/4/2026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00337626-B2F2-4B9F-AD2B-18C37E444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9900" y="2002536"/>
            <a:ext cx="822960" cy="2560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D7D31"/>
          </a:solidFill>
          <a:ln xmlns:a="http://schemas.openxmlformats.org/drawingml/2006/main">
            <a:solidFill>
              <a:srgbClr val="ED7D3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3A751BA9-B27F-4A6D-BB71-30F0F80AE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6702" y="2016988"/>
            <a:ext cx="689356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In Progress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3202AA9B-2FD9-484A-8BBE-DCD7F24A5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32888"/>
            <a:ext cx="5532120" cy="5852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FFF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A9FAB1EE-4294-45B1-BFA7-2FC075065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2762224"/>
            <a:ext cx="1179875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 i="0">
                <a:solidFill>
                  <a:srgbClr val="202020"/>
                </a:solidFill>
                <a:latin typeface="Aptos"/>
                <a:ea typeface="Aptos"/>
                <a:cs typeface="Aptos"/>
              </a:rPr>
              <a:t>Check valve removal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702A8F77-47E5-4D1B-97B1-A35C6F494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0263" y="2689072"/>
            <a:ext cx="351123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 b="1" i="0">
                <a:solidFill>
                  <a:srgbClr val="202020"/>
                </a:solidFill>
                <a:latin typeface="Aptos"/>
                <a:ea typeface="Aptos"/>
                <a:cs typeface="Aptos"/>
              </a:rPr>
              <a:t>$5.00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F6A6CE8D-36F9-4F69-96B9-6B3B78A04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020" y="2689072"/>
            <a:ext cx="606000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0" i="0">
                <a:solidFill>
                  <a:srgbClr val="202020"/>
                </a:solidFill>
                <a:latin typeface="Aptos"/>
                <a:ea typeface="Aptos"/>
                <a:cs typeface="Aptos"/>
              </a:rPr>
              <a:t>8/21/2026</a:t>
            </a:r>
          </a:p>
        </p:txBody>
      </p:sp>
      <p:sp>
        <p:nvSpPr>
          <p:cNvPr id="24" name="Rounded Rectangle 23">
            <a:extLst xmlns:a="http://schemas.openxmlformats.org/drawingml/2006/main">
              <a:ext uri="{FF2B5EF4-FFF2-40B4-BE49-F238E27FC236}">
                <a16:creationId xmlns:a16="http://schemas.microsoft.com/office/drawing/2014/main" id="{643BD10E-A46A-4FBB-8F05-FB12F007C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9900" y="2670048"/>
            <a:ext cx="822960" cy="2560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A6A6A6"/>
          </a:solidFill>
          <a:ln xmlns:a="http://schemas.openxmlformats.org/drawingml/2006/main">
            <a:solidFill>
              <a:srgbClr val="A6A6A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57E920EF-C4C3-465E-BDC2-15322173D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8688" y="2684500"/>
            <a:ext cx="705386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Not Started</a:t>
            </a:r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AB621F92-F482-4B95-B841-D9FEB7B5E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0"/>
            <a:ext cx="5532120" cy="5852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A"/>
          </a:solidFill>
          <a:ln xmlns:a="http://schemas.openxmlformats.org/drawingml/2006/main">
            <a:solidFill>
              <a:srgbClr val="F2F5F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2BD1E681-560D-4440-936B-534A283D2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3429736"/>
            <a:ext cx="2510367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 i="0">
                <a:solidFill>
                  <a:srgbClr val="202020"/>
                </a:solidFill>
                <a:latin typeface="Aptos"/>
                <a:ea typeface="Aptos"/>
                <a:cs typeface="Aptos"/>
              </a:rPr>
              <a:t>S/M - 1 (Removing parts/clamps from design)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D43D701D-E6AC-4CEC-B33A-53ABE4835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0263" y="3356584"/>
            <a:ext cx="351123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 b="1" i="0">
                <a:solidFill>
                  <a:srgbClr val="202020"/>
                </a:solidFill>
                <a:latin typeface="Aptos"/>
                <a:ea typeface="Aptos"/>
                <a:cs typeface="Aptos"/>
              </a:rPr>
              <a:t>$7.50</a:t>
            </a: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D6CAD696-F691-41D3-A967-5E4D0DC7B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3484" y="3356584"/>
            <a:ext cx="537071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0" i="0">
                <a:solidFill>
                  <a:srgbClr val="202020"/>
                </a:solidFill>
                <a:latin typeface="Aptos"/>
                <a:ea typeface="Aptos"/>
                <a:cs typeface="Aptos"/>
              </a:rPr>
              <a:t>8/3/2026</a:t>
            </a:r>
          </a:p>
        </p:txBody>
      </p:sp>
      <p:sp>
        <p:nvSpPr>
          <p:cNvPr id="30" name="Rounded Rectangle 29">
            <a:extLst xmlns:a="http://schemas.openxmlformats.org/drawingml/2006/main">
              <a:ext uri="{FF2B5EF4-FFF2-40B4-BE49-F238E27FC236}">
                <a16:creationId xmlns:a16="http://schemas.microsoft.com/office/drawing/2014/main" id="{7F771137-6F91-461B-83A9-57C3749AF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9900" y="3337560"/>
            <a:ext cx="822960" cy="2560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70AD47"/>
          </a:solidFill>
          <a:ln xmlns:a="http://schemas.openxmlformats.org/drawingml/2006/main">
            <a:solidFill>
              <a:srgbClr val="70AD47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B16EE97C-3AE6-4353-A7E8-89ED0011E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5901" y="3352012"/>
            <a:ext cx="690959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Completed</a:t>
            </a:r>
          </a:p>
        </p:txBody>
      </p:sp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E1A1E86E-02AB-4A19-A753-F6663635B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867912"/>
            <a:ext cx="5532120" cy="5852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FFF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609D2D58-E815-451C-88B1-C0D9CD009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4020304"/>
            <a:ext cx="2414187" cy="3170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 i="0">
                <a:solidFill>
                  <a:srgbClr val="202020"/>
                </a:solidFill>
                <a:latin typeface="Aptos"/>
                <a:ea typeface="Aptos"/>
                <a:cs typeface="Aptos"/>
              </a:rPr>
              <a:t>S/m - 2 (Control box redesign, </a:t>
            </a:r>
            <a:r>
              <a:rPr sz="1000" b="0" i="0">
                <a:solidFill>
                  <a:srgbClr val="202020"/>
                </a:solidFill>
                <a:latin typeface="Aptos"/>
                <a:ea typeface="Aptos"/>
                <a:cs typeface="Aptos"/>
              </a:rPr>
              <a:t>evap</a:t>
            </a:r>
            <a:r>
              <a:rPr sz="1000" b="0" i="0">
                <a:solidFill>
                  <a:srgbClr val="202020"/>
                </a:solidFill>
                <a:latin typeface="Aptos"/>
                <a:ea typeface="Aptos"/>
                <a:cs typeface="Aptos"/>
              </a:rPr>
              <a:t> shroud,</a:t>
            </a:r>
          </a:p>
          <a:p xmlns:a="http://schemas.openxmlformats.org/drawingml/2006/main">
            <a:pPr algn="l">
              <a:buNone/>
            </a:pPr>
            <a:r>
              <a:rPr sz="1000" b="0" i="0">
                <a:solidFill>
                  <a:srgbClr val="202020"/>
                </a:solidFill>
                <a:latin typeface="Aptos"/>
                <a:ea typeface="Aptos"/>
                <a:cs typeface="Aptos"/>
              </a:rPr>
              <a:t> compress base, cond. shroud)</a:t>
            </a:r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A296F264-219A-400A-BD6C-F22A158AB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1335" y="4024096"/>
            <a:ext cx="420051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 b="1" i="0">
                <a:solidFill>
                  <a:srgbClr val="202020"/>
                </a:solidFill>
                <a:latin typeface="Aptos"/>
                <a:ea typeface="Aptos"/>
                <a:cs typeface="Aptos"/>
              </a:rPr>
              <a:t>$30.00</a:t>
            </a: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3582A80F-F6A8-4183-8901-E68043A68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020" y="4024096"/>
            <a:ext cx="606000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0" i="0">
                <a:solidFill>
                  <a:srgbClr val="202020"/>
                </a:solidFill>
                <a:latin typeface="Aptos"/>
                <a:ea typeface="Aptos"/>
                <a:cs typeface="Aptos"/>
              </a:rPr>
              <a:t>10/7/2026</a:t>
            </a:r>
          </a:p>
        </p:txBody>
      </p:sp>
      <p:sp>
        <p:nvSpPr>
          <p:cNvPr id="36" name="Rounded Rectangle 35">
            <a:extLst xmlns:a="http://schemas.openxmlformats.org/drawingml/2006/main">
              <a:ext uri="{FF2B5EF4-FFF2-40B4-BE49-F238E27FC236}">
                <a16:creationId xmlns:a16="http://schemas.microsoft.com/office/drawing/2014/main" id="{DCE43CBC-76E8-4F66-BD17-6D9C57A1E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9900" y="4005072"/>
            <a:ext cx="822960" cy="2560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D7D31"/>
          </a:solidFill>
          <a:ln xmlns:a="http://schemas.openxmlformats.org/drawingml/2006/main">
            <a:solidFill>
              <a:srgbClr val="ED7D3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7" name="TextBox 36">
            <a:extLst xmlns:a="http://schemas.openxmlformats.org/drawingml/2006/main">
              <a:ext uri="{FF2B5EF4-FFF2-40B4-BE49-F238E27FC236}">
                <a16:creationId xmlns:a16="http://schemas.microsoft.com/office/drawing/2014/main" id="{8C0E9E66-321E-4090-9244-1CBF4CDFF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6702" y="4019524"/>
            <a:ext cx="689356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In Progress</a:t>
            </a:r>
          </a:p>
        </p:txBody>
      </p:sp>
      <p:sp>
        <p:nvSpPr>
          <p:cNvPr id="38" name="Rectangle 37">
            <a:extLst xmlns:a="http://schemas.openxmlformats.org/drawingml/2006/main">
              <a:ext uri="{FF2B5EF4-FFF2-40B4-BE49-F238E27FC236}">
                <a16:creationId xmlns:a16="http://schemas.microsoft.com/office/drawing/2014/main" id="{1D6CC113-D710-4DB9-B50D-94895BE24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535424"/>
            <a:ext cx="5532120" cy="5852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A"/>
          </a:solidFill>
          <a:ln xmlns:a="http://schemas.openxmlformats.org/drawingml/2006/main">
            <a:solidFill>
              <a:srgbClr val="F2F5F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9" name="TextBox 38">
            <a:extLst xmlns:a="http://schemas.openxmlformats.org/drawingml/2006/main">
              <a:ext uri="{FF2B5EF4-FFF2-40B4-BE49-F238E27FC236}">
                <a16:creationId xmlns:a16="http://schemas.microsoft.com/office/drawing/2014/main" id="{B3A8F3CC-740B-4352-A533-F6803D1F9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4764760"/>
            <a:ext cx="2758832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 i="0">
                <a:solidFill>
                  <a:srgbClr val="202020"/>
                </a:solidFill>
                <a:latin typeface="Aptos"/>
                <a:ea typeface="Aptos"/>
                <a:cs typeface="Aptos"/>
              </a:rPr>
              <a:t>New enclosure for 2.0 (Molded foam/ Sm/ gasket)</a:t>
            </a:r>
          </a:p>
        </p:txBody>
      </p:sp>
      <p:sp>
        <p:nvSpPr>
          <p:cNvPr id="40" name="TextBox 39">
            <a:extLst xmlns:a="http://schemas.openxmlformats.org/drawingml/2006/main">
              <a:ext uri="{FF2B5EF4-FFF2-40B4-BE49-F238E27FC236}">
                <a16:creationId xmlns:a16="http://schemas.microsoft.com/office/drawing/2014/main" id="{71B6A305-ADB7-47AB-BC84-8A8BE68B4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1335" y="4691608"/>
            <a:ext cx="420051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 b="1" i="0">
                <a:solidFill>
                  <a:srgbClr val="202020"/>
                </a:solidFill>
                <a:latin typeface="Aptos"/>
                <a:ea typeface="Aptos"/>
                <a:cs typeface="Aptos"/>
              </a:rPr>
              <a:t>$27.00</a:t>
            </a:r>
          </a:p>
        </p:txBody>
      </p:sp>
      <p:sp>
        <p:nvSpPr>
          <p:cNvPr id="41" name="TextBox 40">
            <a:extLst xmlns:a="http://schemas.openxmlformats.org/drawingml/2006/main">
              <a:ext uri="{FF2B5EF4-FFF2-40B4-BE49-F238E27FC236}">
                <a16:creationId xmlns:a16="http://schemas.microsoft.com/office/drawing/2014/main" id="{FE60127C-CA66-4A04-BB7E-11398B1C1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555" y="4691608"/>
            <a:ext cx="674929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0" i="0">
                <a:solidFill>
                  <a:srgbClr val="202020"/>
                </a:solidFill>
                <a:latin typeface="Aptos"/>
                <a:ea typeface="Aptos"/>
                <a:cs typeface="Aptos"/>
              </a:rPr>
              <a:t>10/30/2026</a:t>
            </a:r>
          </a:p>
        </p:txBody>
      </p:sp>
      <p:sp>
        <p:nvSpPr>
          <p:cNvPr id="42" name="Rounded Rectangle 41">
            <a:extLst xmlns:a="http://schemas.openxmlformats.org/drawingml/2006/main">
              <a:ext uri="{FF2B5EF4-FFF2-40B4-BE49-F238E27FC236}">
                <a16:creationId xmlns:a16="http://schemas.microsoft.com/office/drawing/2014/main" id="{67037022-FD4D-4517-903D-367543E7B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9900" y="4672584"/>
            <a:ext cx="822960" cy="2560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D7D31"/>
          </a:solidFill>
          <a:ln xmlns:a="http://schemas.openxmlformats.org/drawingml/2006/main">
            <a:solidFill>
              <a:srgbClr val="ED7D3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3" name="TextBox 42">
            <a:extLst xmlns:a="http://schemas.openxmlformats.org/drawingml/2006/main">
              <a:ext uri="{FF2B5EF4-FFF2-40B4-BE49-F238E27FC236}">
                <a16:creationId xmlns:a16="http://schemas.microsoft.com/office/drawing/2014/main" id="{61D05615-695E-42B9-ADEB-EBE759292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6702" y="4687036"/>
            <a:ext cx="689356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In Progress</a:t>
            </a:r>
          </a:p>
        </p:txBody>
      </p:sp>
      <p:sp>
        <p:nvSpPr>
          <p:cNvPr id="44" name="Rectangle 43">
            <a:extLst xmlns:a="http://schemas.openxmlformats.org/drawingml/2006/main">
              <a:ext uri="{FF2B5EF4-FFF2-40B4-BE49-F238E27FC236}">
                <a16:creationId xmlns:a16="http://schemas.microsoft.com/office/drawing/2014/main" id="{2904A170-4D9D-42C4-A7F7-A7D9047CA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202936"/>
            <a:ext cx="5532120" cy="5852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FFF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5" name="TextBox 44">
            <a:extLst xmlns:a="http://schemas.openxmlformats.org/drawingml/2006/main">
              <a:ext uri="{FF2B5EF4-FFF2-40B4-BE49-F238E27FC236}">
                <a16:creationId xmlns:a16="http://schemas.microsoft.com/office/drawing/2014/main" id="{DDA463D6-3AF5-44C3-99D0-596013592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5432272"/>
            <a:ext cx="836832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 i="0">
                <a:solidFill>
                  <a:srgbClr val="202020"/>
                </a:solidFill>
                <a:latin typeface="Aptos"/>
                <a:ea typeface="Aptos"/>
                <a:cs typeface="Aptos"/>
              </a:rPr>
              <a:t>Aluminum coil</a:t>
            </a:r>
          </a:p>
        </p:txBody>
      </p:sp>
      <p:sp>
        <p:nvSpPr>
          <p:cNvPr id="46" name="TextBox 45">
            <a:extLst xmlns:a="http://schemas.openxmlformats.org/drawingml/2006/main">
              <a:ext uri="{FF2B5EF4-FFF2-40B4-BE49-F238E27FC236}">
                <a16:creationId xmlns:a16="http://schemas.microsoft.com/office/drawing/2014/main" id="{EA0C5791-D303-4E8E-8EB8-15037689E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1335" y="5359120"/>
            <a:ext cx="420051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 b="1" i="0">
                <a:solidFill>
                  <a:srgbClr val="202020"/>
                </a:solidFill>
                <a:latin typeface="Aptos"/>
                <a:ea typeface="Aptos"/>
                <a:cs typeface="Aptos"/>
              </a:rPr>
              <a:t>$30.00</a:t>
            </a:r>
          </a:p>
        </p:txBody>
      </p:sp>
      <p:sp>
        <p:nvSpPr>
          <p:cNvPr id="47" name="TextBox 46">
            <a:extLst xmlns:a="http://schemas.openxmlformats.org/drawingml/2006/main">
              <a:ext uri="{FF2B5EF4-FFF2-40B4-BE49-F238E27FC236}">
                <a16:creationId xmlns:a16="http://schemas.microsoft.com/office/drawing/2014/main" id="{8590AC91-ABF1-44A8-B317-1CC4E5365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3484" y="5359120"/>
            <a:ext cx="537071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0" i="0">
                <a:solidFill>
                  <a:srgbClr val="202020"/>
                </a:solidFill>
                <a:latin typeface="Aptos"/>
                <a:ea typeface="Aptos"/>
                <a:cs typeface="Aptos"/>
              </a:rPr>
              <a:t>2/1/2027</a:t>
            </a:r>
          </a:p>
        </p:txBody>
      </p:sp>
      <p:sp>
        <p:nvSpPr>
          <p:cNvPr id="48" name="Rounded Rectangle 47">
            <a:extLst xmlns:a="http://schemas.openxmlformats.org/drawingml/2006/main">
              <a:ext uri="{FF2B5EF4-FFF2-40B4-BE49-F238E27FC236}">
                <a16:creationId xmlns:a16="http://schemas.microsoft.com/office/drawing/2014/main" id="{2BBE9836-113B-4915-8DB3-C4C741BA8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9900" y="5340096"/>
            <a:ext cx="822960" cy="2560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D7D31"/>
          </a:solidFill>
          <a:ln xmlns:a="http://schemas.openxmlformats.org/drawingml/2006/main">
            <a:solidFill>
              <a:srgbClr val="ED7D3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9" name="TextBox 48">
            <a:extLst xmlns:a="http://schemas.openxmlformats.org/drawingml/2006/main">
              <a:ext uri="{FF2B5EF4-FFF2-40B4-BE49-F238E27FC236}">
                <a16:creationId xmlns:a16="http://schemas.microsoft.com/office/drawing/2014/main" id="{2B4D1378-BC0B-4263-A891-B6836E6D3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6702" y="5354548"/>
            <a:ext cx="689356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In Progress</a:t>
            </a:r>
          </a:p>
        </p:txBody>
      </p:sp>
      <p:sp>
        <p:nvSpPr>
          <p:cNvPr id="50" name="Rectangle 49">
            <a:extLst xmlns:a="http://schemas.openxmlformats.org/drawingml/2006/main">
              <a:ext uri="{FF2B5EF4-FFF2-40B4-BE49-F238E27FC236}">
                <a16:creationId xmlns:a16="http://schemas.microsoft.com/office/drawing/2014/main" id="{387D8B89-F686-421E-B575-79614FAEE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870448"/>
            <a:ext cx="5532120" cy="5852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A"/>
          </a:solidFill>
          <a:ln xmlns:a="http://schemas.openxmlformats.org/drawingml/2006/main">
            <a:solidFill>
              <a:srgbClr val="F2F5F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1" name="TextBox 50">
            <a:extLst xmlns:a="http://schemas.openxmlformats.org/drawingml/2006/main">
              <a:ext uri="{FF2B5EF4-FFF2-40B4-BE49-F238E27FC236}">
                <a16:creationId xmlns:a16="http://schemas.microsoft.com/office/drawing/2014/main" id="{9F3898C3-91D1-4A80-8517-D740FE054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6099784"/>
            <a:ext cx="1409104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 i="0">
                <a:solidFill>
                  <a:srgbClr val="202020"/>
                </a:solidFill>
                <a:latin typeface="Aptos"/>
                <a:ea typeface="Aptos"/>
                <a:cs typeface="Aptos"/>
              </a:rPr>
              <a:t>Cheaper Carel controller</a:t>
            </a:r>
          </a:p>
        </p:txBody>
      </p:sp>
      <p:sp>
        <p:nvSpPr>
          <p:cNvPr id="52" name="TextBox 51">
            <a:extLst xmlns:a="http://schemas.openxmlformats.org/drawingml/2006/main">
              <a:ext uri="{FF2B5EF4-FFF2-40B4-BE49-F238E27FC236}">
                <a16:creationId xmlns:a16="http://schemas.microsoft.com/office/drawing/2014/main" id="{B5963DCD-4193-4D69-AFC0-45EA0DD05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1335" y="6026632"/>
            <a:ext cx="420051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 b="1" i="0">
                <a:solidFill>
                  <a:srgbClr val="202020"/>
                </a:solidFill>
                <a:latin typeface="Aptos"/>
                <a:ea typeface="Aptos"/>
                <a:cs typeface="Aptos"/>
              </a:rPr>
              <a:t>$15.00</a:t>
            </a:r>
          </a:p>
        </p:txBody>
      </p:sp>
      <p:sp>
        <p:nvSpPr>
          <p:cNvPr id="53" name="TextBox 52">
            <a:extLst xmlns:a="http://schemas.openxmlformats.org/drawingml/2006/main">
              <a:ext uri="{FF2B5EF4-FFF2-40B4-BE49-F238E27FC236}">
                <a16:creationId xmlns:a16="http://schemas.microsoft.com/office/drawing/2014/main" id="{B7984FA9-54F0-4BD9-9693-E15A185F7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020" y="6026632"/>
            <a:ext cx="606000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0" i="0">
                <a:solidFill>
                  <a:srgbClr val="202020"/>
                </a:solidFill>
                <a:latin typeface="Aptos"/>
                <a:ea typeface="Aptos"/>
                <a:cs typeface="Aptos"/>
              </a:rPr>
              <a:t>9/16/2026</a:t>
            </a:r>
          </a:p>
        </p:txBody>
      </p:sp>
      <p:sp>
        <p:nvSpPr>
          <p:cNvPr id="54" name="Rounded Rectangle 53">
            <a:extLst xmlns:a="http://schemas.openxmlformats.org/drawingml/2006/main">
              <a:ext uri="{FF2B5EF4-FFF2-40B4-BE49-F238E27FC236}">
                <a16:creationId xmlns:a16="http://schemas.microsoft.com/office/drawing/2014/main" id="{F7413198-BD96-462E-BA08-14E98B366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9900" y="6007608"/>
            <a:ext cx="822960" cy="2560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D7D31"/>
          </a:solidFill>
          <a:ln xmlns:a="http://schemas.openxmlformats.org/drawingml/2006/main">
            <a:solidFill>
              <a:srgbClr val="ED7D3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5" name="TextBox 54">
            <a:extLst xmlns:a="http://schemas.openxmlformats.org/drawingml/2006/main">
              <a:ext uri="{FF2B5EF4-FFF2-40B4-BE49-F238E27FC236}">
                <a16:creationId xmlns:a16="http://schemas.microsoft.com/office/drawing/2014/main" id="{758A10F8-A7C8-44A4-B45C-EB98B62FD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6702" y="6022060"/>
            <a:ext cx="689356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In Progress</a:t>
            </a:r>
          </a:p>
        </p:txBody>
      </p:sp>
      <p:sp>
        <p:nvSpPr>
          <p:cNvPr id="56" name="Rectangle 55">
            <a:extLst xmlns:a="http://schemas.openxmlformats.org/drawingml/2006/main">
              <a:ext uri="{FF2B5EF4-FFF2-40B4-BE49-F238E27FC236}">
                <a16:creationId xmlns:a16="http://schemas.microsoft.com/office/drawing/2014/main" id="{DA0642D8-B542-43FF-9A04-69AC6221B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508760"/>
            <a:ext cx="5532120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F7"/>
          </a:solidFill>
          <a:ln xmlns:a="http://schemas.openxmlformats.org/drawingml/2006/main">
            <a:solidFill>
              <a:srgbClr val="D9D9D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7" name="TextBox 56">
            <a:extLst xmlns:a="http://schemas.openxmlformats.org/drawingml/2006/main">
              <a:ext uri="{FF2B5EF4-FFF2-40B4-BE49-F238E27FC236}">
                <a16:creationId xmlns:a16="http://schemas.microsoft.com/office/drawing/2014/main" id="{B656BA7B-152B-44DE-B3E7-B92BAAE2D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3368" y="1541499"/>
            <a:ext cx="679738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 i="0">
                <a:solidFill>
                  <a:srgbClr val="202020"/>
                </a:solidFill>
                <a:latin typeface="Aptos"/>
                <a:ea typeface="Aptos"/>
                <a:cs typeface="Aptos"/>
              </a:rPr>
              <a:t>Task Name</a:t>
            </a:r>
          </a:p>
        </p:txBody>
      </p:sp>
      <p:sp>
        <p:nvSpPr>
          <p:cNvPr id="58" name="TextBox 57">
            <a:extLst xmlns:a="http://schemas.openxmlformats.org/drawingml/2006/main">
              <a:ext uri="{FF2B5EF4-FFF2-40B4-BE49-F238E27FC236}">
                <a16:creationId xmlns:a16="http://schemas.microsoft.com/office/drawing/2014/main" id="{4BBB7264-7FD5-410B-A67E-C3E19D7B9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6332" y="1541499"/>
            <a:ext cx="485774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 b="1" i="0">
                <a:solidFill>
                  <a:srgbClr val="202020"/>
                </a:solidFill>
                <a:latin typeface="Aptos"/>
                <a:ea typeface="Aptos"/>
                <a:cs typeface="Aptos"/>
              </a:rPr>
              <a:t>Savings</a:t>
            </a:r>
          </a:p>
        </p:txBody>
      </p:sp>
      <p:sp>
        <p:nvSpPr>
          <p:cNvPr id="59" name="TextBox 58">
            <a:extLst xmlns:a="http://schemas.openxmlformats.org/drawingml/2006/main">
              <a:ext uri="{FF2B5EF4-FFF2-40B4-BE49-F238E27FC236}">
                <a16:creationId xmlns:a16="http://schemas.microsoft.com/office/drawing/2014/main" id="{13116DE6-6CC0-4E7E-851A-841928A99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5432" y="1541499"/>
            <a:ext cx="259751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 i="0">
                <a:solidFill>
                  <a:srgbClr val="202020"/>
                </a:solidFill>
                <a:latin typeface="Aptos"/>
                <a:ea typeface="Aptos"/>
                <a:cs typeface="Aptos"/>
              </a:rPr>
              <a:t>End</a:t>
            </a:r>
          </a:p>
        </p:txBody>
      </p:sp>
      <p:sp>
        <p:nvSpPr>
          <p:cNvPr id="60" name="TextBox 59">
            <a:extLst xmlns:a="http://schemas.openxmlformats.org/drawingml/2006/main">
              <a:ext uri="{FF2B5EF4-FFF2-40B4-BE49-F238E27FC236}">
                <a16:creationId xmlns:a16="http://schemas.microsoft.com/office/drawing/2014/main" id="{F21CBF41-2B58-4A41-A4A9-42E8F9E9F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903" y="1541499"/>
            <a:ext cx="415242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 i="0">
                <a:solidFill>
                  <a:srgbClr val="202020"/>
                </a:solidFill>
                <a:latin typeface="Aptos"/>
                <a:ea typeface="Aptos"/>
                <a:cs typeface="Aptos"/>
              </a:rPr>
              <a:t>Status</a:t>
            </a:r>
          </a:p>
        </p:txBody>
      </p:sp>
      <p:sp>
        <p:nvSpPr>
          <p:cNvPr id="61" name="Rectangle 60">
            <a:extLst xmlns:a="http://schemas.openxmlformats.org/drawingml/2006/main">
              <a:ext uri="{FF2B5EF4-FFF2-40B4-BE49-F238E27FC236}">
                <a16:creationId xmlns:a16="http://schemas.microsoft.com/office/drawing/2014/main" id="{B3CA1FE7-3B4D-4596-B587-7BC75523F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865376"/>
            <a:ext cx="5532120" cy="5852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A"/>
          </a:solidFill>
          <a:ln xmlns:a="http://schemas.openxmlformats.org/drawingml/2006/main">
            <a:solidFill>
              <a:srgbClr val="F2F5F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2" name="TextBox 61">
            <a:extLst xmlns:a="http://schemas.openxmlformats.org/drawingml/2006/main">
              <a:ext uri="{FF2B5EF4-FFF2-40B4-BE49-F238E27FC236}">
                <a16:creationId xmlns:a16="http://schemas.microsoft.com/office/drawing/2014/main" id="{B3660ADC-DFC8-48F0-BC82-1795AFE27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3368" y="2094712"/>
            <a:ext cx="957057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 i="0">
                <a:solidFill>
                  <a:srgbClr val="202020"/>
                </a:solidFill>
                <a:latin typeface="Aptos"/>
                <a:ea typeface="Aptos"/>
                <a:cs typeface="Aptos"/>
              </a:rPr>
              <a:t>Tube on drip tray</a:t>
            </a:r>
          </a:p>
        </p:txBody>
      </p:sp>
      <p:sp>
        <p:nvSpPr>
          <p:cNvPr id="63" name="TextBox 62">
            <a:extLst xmlns:a="http://schemas.openxmlformats.org/drawingml/2006/main">
              <a:ext uri="{FF2B5EF4-FFF2-40B4-BE49-F238E27FC236}">
                <a16:creationId xmlns:a16="http://schemas.microsoft.com/office/drawing/2014/main" id="{F65AD8FD-9B76-4BA9-99FB-9663F23B3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0983" y="2021560"/>
            <a:ext cx="351123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 b="1" i="0">
                <a:solidFill>
                  <a:srgbClr val="202020"/>
                </a:solidFill>
                <a:latin typeface="Aptos"/>
                <a:ea typeface="Aptos"/>
                <a:cs typeface="Aptos"/>
              </a:rPr>
              <a:t>$0.00</a:t>
            </a:r>
          </a:p>
        </p:txBody>
      </p:sp>
      <p:sp>
        <p:nvSpPr>
          <p:cNvPr id="64" name="TextBox 63">
            <a:extLst xmlns:a="http://schemas.openxmlformats.org/drawingml/2006/main">
              <a:ext uri="{FF2B5EF4-FFF2-40B4-BE49-F238E27FC236}">
                <a16:creationId xmlns:a16="http://schemas.microsoft.com/office/drawing/2014/main" id="{D22FBEC1-15DB-410F-854F-6D0FCCC10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9741" y="2021560"/>
            <a:ext cx="606000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0" i="0">
                <a:solidFill>
                  <a:srgbClr val="202020"/>
                </a:solidFill>
                <a:latin typeface="Aptos"/>
                <a:ea typeface="Aptos"/>
                <a:cs typeface="Aptos"/>
              </a:rPr>
              <a:t>7/24/2026</a:t>
            </a:r>
          </a:p>
        </p:txBody>
      </p:sp>
      <p:sp>
        <p:nvSpPr>
          <p:cNvPr id="65" name="Rounded Rectangle 64">
            <a:extLst xmlns:a="http://schemas.openxmlformats.org/drawingml/2006/main">
              <a:ext uri="{FF2B5EF4-FFF2-40B4-BE49-F238E27FC236}">
                <a16:creationId xmlns:a16="http://schemas.microsoft.com/office/drawing/2014/main" id="{7305B2CF-B7E3-40E7-A2A5-73ED01482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0620" y="2002536"/>
            <a:ext cx="822960" cy="2560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D7D31"/>
          </a:solidFill>
          <a:ln xmlns:a="http://schemas.openxmlformats.org/drawingml/2006/main">
            <a:solidFill>
              <a:srgbClr val="ED7D3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6" name="TextBox 65">
            <a:extLst xmlns:a="http://schemas.openxmlformats.org/drawingml/2006/main">
              <a:ext uri="{FF2B5EF4-FFF2-40B4-BE49-F238E27FC236}">
                <a16:creationId xmlns:a16="http://schemas.microsoft.com/office/drawing/2014/main" id="{A9972CAA-88A8-4E7E-96E1-A6BE88989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7422" y="2016988"/>
            <a:ext cx="689356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In Progress</a:t>
            </a:r>
          </a:p>
        </p:txBody>
      </p:sp>
      <p:sp>
        <p:nvSpPr>
          <p:cNvPr id="67" name="Rectangle 66">
            <a:extLst xmlns:a="http://schemas.openxmlformats.org/drawingml/2006/main">
              <a:ext uri="{FF2B5EF4-FFF2-40B4-BE49-F238E27FC236}">
                <a16:creationId xmlns:a16="http://schemas.microsoft.com/office/drawing/2014/main" id="{4FF469F7-2A87-4235-80C4-73B0A811F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2532888"/>
            <a:ext cx="5532120" cy="5852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FFF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8" name="TextBox 67">
            <a:extLst xmlns:a="http://schemas.openxmlformats.org/drawingml/2006/main">
              <a:ext uri="{FF2B5EF4-FFF2-40B4-BE49-F238E27FC236}">
                <a16:creationId xmlns:a16="http://schemas.microsoft.com/office/drawing/2014/main" id="{27D19985-3C94-41D9-BC8D-62F24AE71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3368" y="2762224"/>
            <a:ext cx="894540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 i="0">
                <a:solidFill>
                  <a:srgbClr val="202020"/>
                </a:solidFill>
                <a:latin typeface="Aptos"/>
                <a:ea typeface="Aptos"/>
                <a:cs typeface="Aptos"/>
              </a:rPr>
              <a:t>Harness design</a:t>
            </a:r>
          </a:p>
        </p:txBody>
      </p:sp>
      <p:sp>
        <p:nvSpPr>
          <p:cNvPr id="69" name="TextBox 68">
            <a:extLst xmlns:a="http://schemas.openxmlformats.org/drawingml/2006/main">
              <a:ext uri="{FF2B5EF4-FFF2-40B4-BE49-F238E27FC236}">
                <a16:creationId xmlns:a16="http://schemas.microsoft.com/office/drawing/2014/main" id="{D3F00B53-5BBC-4783-9A16-71ACDFC09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055" y="2689072"/>
            <a:ext cx="420051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 b="1" i="0">
                <a:solidFill>
                  <a:srgbClr val="202020"/>
                </a:solidFill>
                <a:latin typeface="Aptos"/>
                <a:ea typeface="Aptos"/>
                <a:cs typeface="Aptos"/>
              </a:rPr>
              <a:t>$20.00</a:t>
            </a:r>
          </a:p>
        </p:txBody>
      </p:sp>
      <p:sp>
        <p:nvSpPr>
          <p:cNvPr id="70" name="TextBox 69">
            <a:extLst xmlns:a="http://schemas.openxmlformats.org/drawingml/2006/main">
              <a:ext uri="{FF2B5EF4-FFF2-40B4-BE49-F238E27FC236}">
                <a16:creationId xmlns:a16="http://schemas.microsoft.com/office/drawing/2014/main" id="{85D7212E-99DB-49EF-8B44-BEF8A85F5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9741" y="2689072"/>
            <a:ext cx="606000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0" i="0">
                <a:solidFill>
                  <a:srgbClr val="202020"/>
                </a:solidFill>
                <a:latin typeface="Aptos"/>
                <a:ea typeface="Aptos"/>
                <a:cs typeface="Aptos"/>
              </a:rPr>
              <a:t>9/17/2026</a:t>
            </a:r>
          </a:p>
        </p:txBody>
      </p:sp>
      <p:sp>
        <p:nvSpPr>
          <p:cNvPr id="71" name="Rounded Rectangle 70">
            <a:extLst xmlns:a="http://schemas.openxmlformats.org/drawingml/2006/main">
              <a:ext uri="{FF2B5EF4-FFF2-40B4-BE49-F238E27FC236}">
                <a16:creationId xmlns:a16="http://schemas.microsoft.com/office/drawing/2014/main" id="{140EB830-F344-48F9-95B6-6CF395AB3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0620" y="2670048"/>
            <a:ext cx="822960" cy="2560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D7D31"/>
          </a:solidFill>
          <a:ln xmlns:a="http://schemas.openxmlformats.org/drawingml/2006/main">
            <a:solidFill>
              <a:srgbClr val="ED7D3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2" name="TextBox 71">
            <a:extLst xmlns:a="http://schemas.openxmlformats.org/drawingml/2006/main">
              <a:ext uri="{FF2B5EF4-FFF2-40B4-BE49-F238E27FC236}">
                <a16:creationId xmlns:a16="http://schemas.microsoft.com/office/drawing/2014/main" id="{5E95B0AD-0B3A-4DD7-9B0D-486EA85CC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7422" y="2684500"/>
            <a:ext cx="689356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In Progress</a:t>
            </a:r>
          </a:p>
        </p:txBody>
      </p:sp>
      <p:sp>
        <p:nvSpPr>
          <p:cNvPr id="73" name="Rectangle 72">
            <a:extLst xmlns:a="http://schemas.openxmlformats.org/drawingml/2006/main">
              <a:ext uri="{FF2B5EF4-FFF2-40B4-BE49-F238E27FC236}">
                <a16:creationId xmlns:a16="http://schemas.microsoft.com/office/drawing/2014/main" id="{12E9407A-5F16-4849-A26D-2C0D2BC80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3200400"/>
            <a:ext cx="5532120" cy="5852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A"/>
          </a:solidFill>
          <a:ln xmlns:a="http://schemas.openxmlformats.org/drawingml/2006/main">
            <a:solidFill>
              <a:srgbClr val="F2F5F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4" name="TextBox 73">
            <a:extLst xmlns:a="http://schemas.openxmlformats.org/drawingml/2006/main">
              <a:ext uri="{FF2B5EF4-FFF2-40B4-BE49-F238E27FC236}">
                <a16:creationId xmlns:a16="http://schemas.microsoft.com/office/drawing/2014/main" id="{8CD53E24-40D0-4C24-95A0-0256F81EA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3368" y="3429736"/>
            <a:ext cx="1551771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 i="0">
                <a:solidFill>
                  <a:srgbClr val="202020"/>
                </a:solidFill>
                <a:latin typeface="Aptos"/>
                <a:ea typeface="Aptos"/>
                <a:cs typeface="Aptos"/>
              </a:rPr>
              <a:t>Evap/ Condenser fan - 3 qty</a:t>
            </a:r>
          </a:p>
        </p:txBody>
      </p:sp>
      <p:sp>
        <p:nvSpPr>
          <p:cNvPr id="75" name="TextBox 74">
            <a:extLst xmlns:a="http://schemas.openxmlformats.org/drawingml/2006/main">
              <a:ext uri="{FF2B5EF4-FFF2-40B4-BE49-F238E27FC236}">
                <a16:creationId xmlns:a16="http://schemas.microsoft.com/office/drawing/2014/main" id="{A0F6F07D-99E1-453F-B933-6D027997E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055" y="3356584"/>
            <a:ext cx="420051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 b="1" i="0">
                <a:solidFill>
                  <a:srgbClr val="202020"/>
                </a:solidFill>
                <a:latin typeface="Aptos"/>
                <a:ea typeface="Aptos"/>
                <a:cs typeface="Aptos"/>
              </a:rPr>
              <a:t>$42.00</a:t>
            </a:r>
          </a:p>
        </p:txBody>
      </p:sp>
      <p:sp>
        <p:nvSpPr>
          <p:cNvPr id="76" name="TextBox 75">
            <a:extLst xmlns:a="http://schemas.openxmlformats.org/drawingml/2006/main">
              <a:ext uri="{FF2B5EF4-FFF2-40B4-BE49-F238E27FC236}">
                <a16:creationId xmlns:a16="http://schemas.microsoft.com/office/drawing/2014/main" id="{B69BF7F2-011B-40D0-B94F-997259B5B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9741" y="3356584"/>
            <a:ext cx="606000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0" i="0">
                <a:solidFill>
                  <a:srgbClr val="202020"/>
                </a:solidFill>
                <a:latin typeface="Aptos"/>
                <a:ea typeface="Aptos"/>
                <a:cs typeface="Aptos"/>
              </a:rPr>
              <a:t>8/28/2026</a:t>
            </a:r>
          </a:p>
        </p:txBody>
      </p:sp>
      <p:sp>
        <p:nvSpPr>
          <p:cNvPr id="77" name="Rounded Rectangle 76">
            <a:extLst xmlns:a="http://schemas.openxmlformats.org/drawingml/2006/main">
              <a:ext uri="{FF2B5EF4-FFF2-40B4-BE49-F238E27FC236}">
                <a16:creationId xmlns:a16="http://schemas.microsoft.com/office/drawing/2014/main" id="{1DA9E4BC-83D6-48AB-ACC4-469294B5A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0620" y="3337560"/>
            <a:ext cx="822960" cy="2560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D7D31"/>
          </a:solidFill>
          <a:ln xmlns:a="http://schemas.openxmlformats.org/drawingml/2006/main">
            <a:solidFill>
              <a:srgbClr val="ED7D3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8" name="TextBox 77">
            <a:extLst xmlns:a="http://schemas.openxmlformats.org/drawingml/2006/main">
              <a:ext uri="{FF2B5EF4-FFF2-40B4-BE49-F238E27FC236}">
                <a16:creationId xmlns:a16="http://schemas.microsoft.com/office/drawing/2014/main" id="{57806EF5-3960-4DFE-9924-C296D2F31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7422" y="3352012"/>
            <a:ext cx="689356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In Progress</a:t>
            </a:r>
          </a:p>
        </p:txBody>
      </p:sp>
      <p:sp>
        <p:nvSpPr>
          <p:cNvPr id="79" name="Rectangle 78">
            <a:extLst xmlns:a="http://schemas.openxmlformats.org/drawingml/2006/main">
              <a:ext uri="{FF2B5EF4-FFF2-40B4-BE49-F238E27FC236}">
                <a16:creationId xmlns:a16="http://schemas.microsoft.com/office/drawing/2014/main" id="{80EB1DD3-EE81-43EA-B459-EB0BEF380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3867912"/>
            <a:ext cx="5532120" cy="5852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FFF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0" name="TextBox 79">
            <a:extLst xmlns:a="http://schemas.openxmlformats.org/drawingml/2006/main">
              <a:ext uri="{FF2B5EF4-FFF2-40B4-BE49-F238E27FC236}">
                <a16:creationId xmlns:a16="http://schemas.microsoft.com/office/drawing/2014/main" id="{3CA1BB1B-F033-4463-B6CC-FBB79CA7E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3368" y="4097248"/>
            <a:ext cx="1447576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 i="0">
                <a:solidFill>
                  <a:srgbClr val="202020"/>
                </a:solidFill>
                <a:latin typeface="Aptos"/>
                <a:ea typeface="Aptos"/>
                <a:cs typeface="Aptos"/>
              </a:rPr>
              <a:t>Pallet - CArdboard design</a:t>
            </a:r>
          </a:p>
        </p:txBody>
      </p:sp>
      <p:sp>
        <p:nvSpPr>
          <p:cNvPr id="81" name="TextBox 80">
            <a:extLst xmlns:a="http://schemas.openxmlformats.org/drawingml/2006/main">
              <a:ext uri="{FF2B5EF4-FFF2-40B4-BE49-F238E27FC236}">
                <a16:creationId xmlns:a16="http://schemas.microsoft.com/office/drawing/2014/main" id="{61B66CC6-BF82-48C2-ABE2-8C6810400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055" y="4024096"/>
            <a:ext cx="420051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 b="1" i="0">
                <a:solidFill>
                  <a:srgbClr val="202020"/>
                </a:solidFill>
                <a:latin typeface="Aptos"/>
                <a:ea typeface="Aptos"/>
                <a:cs typeface="Aptos"/>
              </a:rPr>
              <a:t>$10.00</a:t>
            </a:r>
          </a:p>
        </p:txBody>
      </p:sp>
      <p:sp>
        <p:nvSpPr>
          <p:cNvPr id="82" name="TextBox 81">
            <a:extLst xmlns:a="http://schemas.openxmlformats.org/drawingml/2006/main">
              <a:ext uri="{FF2B5EF4-FFF2-40B4-BE49-F238E27FC236}">
                <a16:creationId xmlns:a16="http://schemas.microsoft.com/office/drawing/2014/main" id="{B20544AC-96C6-4A8C-8CCF-16A621B92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9741" y="4024096"/>
            <a:ext cx="606000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0" i="0">
                <a:solidFill>
                  <a:srgbClr val="202020"/>
                </a:solidFill>
                <a:latin typeface="Aptos"/>
                <a:ea typeface="Aptos"/>
                <a:cs typeface="Aptos"/>
              </a:rPr>
              <a:t>9/28/2026</a:t>
            </a:r>
          </a:p>
        </p:txBody>
      </p:sp>
      <p:sp>
        <p:nvSpPr>
          <p:cNvPr id="83" name="Rounded Rectangle 82">
            <a:extLst xmlns:a="http://schemas.openxmlformats.org/drawingml/2006/main">
              <a:ext uri="{FF2B5EF4-FFF2-40B4-BE49-F238E27FC236}">
                <a16:creationId xmlns:a16="http://schemas.microsoft.com/office/drawing/2014/main" id="{99158F97-F7E6-48DA-91C7-09E741FD9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0620" y="4005072"/>
            <a:ext cx="822960" cy="2560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D7D31"/>
          </a:solidFill>
          <a:ln xmlns:a="http://schemas.openxmlformats.org/drawingml/2006/main">
            <a:solidFill>
              <a:srgbClr val="ED7D3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4" name="TextBox 83">
            <a:extLst xmlns:a="http://schemas.openxmlformats.org/drawingml/2006/main">
              <a:ext uri="{FF2B5EF4-FFF2-40B4-BE49-F238E27FC236}">
                <a16:creationId xmlns:a16="http://schemas.microsoft.com/office/drawing/2014/main" id="{83E2A428-A006-4D83-A6B3-3D4011EA0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7422" y="4019524"/>
            <a:ext cx="689356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In Progress</a:t>
            </a:r>
          </a:p>
        </p:txBody>
      </p:sp>
      <p:sp>
        <p:nvSpPr>
          <p:cNvPr id="85" name="Rectangle 84">
            <a:extLst xmlns:a="http://schemas.openxmlformats.org/drawingml/2006/main">
              <a:ext uri="{FF2B5EF4-FFF2-40B4-BE49-F238E27FC236}">
                <a16:creationId xmlns:a16="http://schemas.microsoft.com/office/drawing/2014/main" id="{0A7BF2DE-72BB-451A-8395-DDE0E2F93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4535424"/>
            <a:ext cx="5532120" cy="5852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A"/>
          </a:solidFill>
          <a:ln xmlns:a="http://schemas.openxmlformats.org/drawingml/2006/main">
            <a:solidFill>
              <a:srgbClr val="F2F5F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6" name="TextBox 85">
            <a:extLst xmlns:a="http://schemas.openxmlformats.org/drawingml/2006/main">
              <a:ext uri="{FF2B5EF4-FFF2-40B4-BE49-F238E27FC236}">
                <a16:creationId xmlns:a16="http://schemas.microsoft.com/office/drawing/2014/main" id="{3F678ED5-1B55-42E5-AC98-6979209D4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3368" y="4764760"/>
            <a:ext cx="573940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 i="0">
                <a:solidFill>
                  <a:srgbClr val="202020"/>
                </a:solidFill>
                <a:latin typeface="Aptos"/>
                <a:ea typeface="Aptos"/>
                <a:cs typeface="Aptos"/>
              </a:rPr>
              <a:t>Tariff - MT</a:t>
            </a:r>
          </a:p>
        </p:txBody>
      </p:sp>
      <p:sp>
        <p:nvSpPr>
          <p:cNvPr id="87" name="TextBox 86">
            <a:extLst xmlns:a="http://schemas.openxmlformats.org/drawingml/2006/main">
              <a:ext uri="{FF2B5EF4-FFF2-40B4-BE49-F238E27FC236}">
                <a16:creationId xmlns:a16="http://schemas.microsoft.com/office/drawing/2014/main" id="{253D9CE3-6BE9-455A-A8FE-2C3A9812C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055" y="4691608"/>
            <a:ext cx="420051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 b="1" i="0">
                <a:solidFill>
                  <a:srgbClr val="202020"/>
                </a:solidFill>
                <a:latin typeface="Aptos"/>
                <a:ea typeface="Aptos"/>
                <a:cs typeface="Aptos"/>
              </a:rPr>
              <a:t>$43.26</a:t>
            </a:r>
          </a:p>
        </p:txBody>
      </p:sp>
      <p:sp>
        <p:nvSpPr>
          <p:cNvPr id="88" name="TextBox 87">
            <a:extLst xmlns:a="http://schemas.openxmlformats.org/drawingml/2006/main">
              <a:ext uri="{FF2B5EF4-FFF2-40B4-BE49-F238E27FC236}">
                <a16:creationId xmlns:a16="http://schemas.microsoft.com/office/drawing/2014/main" id="{3B2B4085-0517-4AD3-8CD0-9DD21BC4E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9741" y="4691608"/>
            <a:ext cx="606000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0" i="0">
                <a:solidFill>
                  <a:srgbClr val="202020"/>
                </a:solidFill>
                <a:latin typeface="Aptos"/>
                <a:ea typeface="Aptos"/>
                <a:cs typeface="Aptos"/>
              </a:rPr>
              <a:t>6/15/2026</a:t>
            </a:r>
          </a:p>
        </p:txBody>
      </p:sp>
      <p:sp>
        <p:nvSpPr>
          <p:cNvPr id="89" name="Rounded Rectangle 88">
            <a:extLst xmlns:a="http://schemas.openxmlformats.org/drawingml/2006/main">
              <a:ext uri="{FF2B5EF4-FFF2-40B4-BE49-F238E27FC236}">
                <a16:creationId xmlns:a16="http://schemas.microsoft.com/office/drawing/2014/main" id="{D502E9AD-319E-4BFF-AC3F-ADD2A7429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0620" y="4672584"/>
            <a:ext cx="822960" cy="2560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70AD47"/>
          </a:solidFill>
          <a:ln xmlns:a="http://schemas.openxmlformats.org/drawingml/2006/main">
            <a:solidFill>
              <a:srgbClr val="70AD47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0" name="TextBox 89">
            <a:extLst xmlns:a="http://schemas.openxmlformats.org/drawingml/2006/main">
              <a:ext uri="{FF2B5EF4-FFF2-40B4-BE49-F238E27FC236}">
                <a16:creationId xmlns:a16="http://schemas.microsoft.com/office/drawing/2014/main" id="{B5DA51EC-F950-451C-93A9-04A52504E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5894" y="4687036"/>
            <a:ext cx="612412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REALIZED</a:t>
            </a:r>
          </a:p>
        </p:txBody>
      </p:sp>
      <p:sp>
        <p:nvSpPr>
          <p:cNvPr id="91" name="Rectangle 90">
            <a:extLst xmlns:a="http://schemas.openxmlformats.org/drawingml/2006/main">
              <a:ext uri="{FF2B5EF4-FFF2-40B4-BE49-F238E27FC236}">
                <a16:creationId xmlns:a16="http://schemas.microsoft.com/office/drawing/2014/main" id="{0DF6237E-F613-4792-9C9A-FCCD14971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5202936"/>
            <a:ext cx="5532120" cy="5852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FFF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2" name="TextBox 91">
            <a:extLst xmlns:a="http://schemas.openxmlformats.org/drawingml/2006/main">
              <a:ext uri="{FF2B5EF4-FFF2-40B4-BE49-F238E27FC236}">
                <a16:creationId xmlns:a16="http://schemas.microsoft.com/office/drawing/2014/main" id="{BF430143-3C61-4896-9494-ABF695842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3368" y="5432272"/>
            <a:ext cx="537070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 i="0">
                <a:solidFill>
                  <a:srgbClr val="202020"/>
                </a:solidFill>
                <a:latin typeface="Aptos"/>
                <a:ea typeface="Aptos"/>
                <a:cs typeface="Aptos"/>
              </a:rPr>
              <a:t>Tariff - LT</a:t>
            </a:r>
          </a:p>
        </p:txBody>
      </p:sp>
      <p:sp>
        <p:nvSpPr>
          <p:cNvPr id="93" name="TextBox 92">
            <a:extLst xmlns:a="http://schemas.openxmlformats.org/drawingml/2006/main">
              <a:ext uri="{FF2B5EF4-FFF2-40B4-BE49-F238E27FC236}">
                <a16:creationId xmlns:a16="http://schemas.microsoft.com/office/drawing/2014/main" id="{1189A05C-0D36-45A3-B41F-A50E2BCFF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055" y="5359120"/>
            <a:ext cx="420051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 b="1" i="0">
                <a:solidFill>
                  <a:srgbClr val="202020"/>
                </a:solidFill>
                <a:latin typeface="Aptos"/>
                <a:ea typeface="Aptos"/>
                <a:cs typeface="Aptos"/>
              </a:rPr>
              <a:t>$44.59</a:t>
            </a:r>
          </a:p>
        </p:txBody>
      </p:sp>
      <p:sp>
        <p:nvSpPr>
          <p:cNvPr id="94" name="TextBox 93">
            <a:extLst xmlns:a="http://schemas.openxmlformats.org/drawingml/2006/main">
              <a:ext uri="{FF2B5EF4-FFF2-40B4-BE49-F238E27FC236}">
                <a16:creationId xmlns:a16="http://schemas.microsoft.com/office/drawing/2014/main" id="{3DF65F50-A6F5-4B43-BA02-317493C97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9741" y="5359120"/>
            <a:ext cx="606000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0" i="0">
                <a:solidFill>
                  <a:srgbClr val="202020"/>
                </a:solidFill>
                <a:latin typeface="Aptos"/>
                <a:ea typeface="Aptos"/>
                <a:cs typeface="Aptos"/>
              </a:rPr>
              <a:t>6/15/2026</a:t>
            </a:r>
          </a:p>
        </p:txBody>
      </p:sp>
      <p:sp>
        <p:nvSpPr>
          <p:cNvPr id="95" name="Rounded Rectangle 94">
            <a:extLst xmlns:a="http://schemas.openxmlformats.org/drawingml/2006/main">
              <a:ext uri="{FF2B5EF4-FFF2-40B4-BE49-F238E27FC236}">
                <a16:creationId xmlns:a16="http://schemas.microsoft.com/office/drawing/2014/main" id="{3BDD55DB-80CA-4712-AC44-4F3311C36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0620" y="5340096"/>
            <a:ext cx="822960" cy="2560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70AD47"/>
          </a:solidFill>
          <a:ln xmlns:a="http://schemas.openxmlformats.org/drawingml/2006/main">
            <a:solidFill>
              <a:srgbClr val="70AD47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6" name="TextBox 95">
            <a:extLst xmlns:a="http://schemas.openxmlformats.org/drawingml/2006/main">
              <a:ext uri="{FF2B5EF4-FFF2-40B4-BE49-F238E27FC236}">
                <a16:creationId xmlns:a16="http://schemas.microsoft.com/office/drawing/2014/main" id="{84CC21C4-EC75-450D-AA03-152A354EE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5894" y="5354548"/>
            <a:ext cx="612412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REALIZED</a:t>
            </a:r>
          </a:p>
        </p:txBody>
      </p:sp>
    </p:spTree>
    <p:extLst>
      <p:ext uri="{BB962C8B-B14F-4D97-AF65-F5344CB8AC3E}">
        <p14:creationId xmlns:p14="http://schemas.microsoft.com/office/powerpoint/2010/main" val="117409869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2386A387-A324-4084-9EFA-D60AA8B43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217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>
            <a:solidFill>
              <a:srgbClr val="1F4E7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ACE9FE6C-757F-4EFC-8E6F-41F59EBC2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137160"/>
            <a:ext cx="7406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Case VAVE activities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BFDA67F6-DC73-4902-B988-214764E1D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914400"/>
            <a:ext cx="11365992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7D31"/>
          </a:solidFill>
          <a:ln xmlns:a="http://schemas.openxmlformats.org/drawingml/2006/main">
            <a:solidFill>
              <a:srgbClr val="ED7D3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F1C59DE8-A2EA-4FE2-8878-44FDB83A0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96696"/>
            <a:ext cx="4754880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Case VAVE activities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E528B109-9AEA-4567-B5F1-1AC7EC4B3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0" y="996696"/>
            <a:ext cx="1737360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Total: $78.29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5473DEBB-EE70-4133-AEB9-0CD5A024A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481328"/>
            <a:ext cx="10972800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F7"/>
          </a:solidFill>
          <a:ln xmlns:a="http://schemas.openxmlformats.org/drawingml/2006/main">
            <a:solidFill>
              <a:srgbClr val="D9D9D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AC4BB7B2-7930-4453-AF0E-FFE5EDD35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546072"/>
            <a:ext cx="679738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 i="0">
                <a:solidFill>
                  <a:srgbClr val="202020"/>
                </a:solidFill>
                <a:latin typeface="Aptos"/>
                <a:ea typeface="Aptos"/>
                <a:cs typeface="Aptos"/>
              </a:rPr>
              <a:t>Task Name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6BC542C9-85BC-44E1-834E-CBE8799EE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3666" y="1546071"/>
            <a:ext cx="485774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 b="1" i="0">
                <a:solidFill>
                  <a:srgbClr val="202020"/>
                </a:solidFill>
                <a:latin typeface="Aptos"/>
                <a:ea typeface="Aptos"/>
                <a:cs typeface="Aptos"/>
              </a:rPr>
              <a:t>Savings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F20712DE-F2A8-4486-B998-1146F883E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8472" y="1546071"/>
            <a:ext cx="562718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 i="0">
                <a:solidFill>
                  <a:srgbClr val="202020"/>
                </a:solidFill>
                <a:latin typeface="Aptos"/>
                <a:ea typeface="Aptos"/>
                <a:cs typeface="Aptos"/>
              </a:rPr>
              <a:t>End Date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E73E25A2-1EAF-43AE-9ECB-6F4667988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8715" y="1546071"/>
            <a:ext cx="415242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 i="0">
                <a:solidFill>
                  <a:srgbClr val="202020"/>
                </a:solidFill>
                <a:latin typeface="Aptos"/>
                <a:ea typeface="Aptos"/>
                <a:cs typeface="Aptos"/>
              </a:rPr>
              <a:t>Status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86FA104B-21E6-41BE-9041-762BC4C90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920240"/>
            <a:ext cx="10972800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A"/>
          </a:solidFill>
          <a:ln xmlns:a="http://schemas.openxmlformats.org/drawingml/2006/main">
            <a:solidFill>
              <a:srgbClr val="F2F5F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0A24D6C9-04CA-4686-9886-96155A00C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2030703"/>
            <a:ext cx="1027589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 i="0">
                <a:solidFill>
                  <a:srgbClr val="202020"/>
                </a:solidFill>
                <a:latin typeface="Aptos"/>
                <a:ea typeface="Aptos"/>
                <a:cs typeface="Aptos"/>
              </a:rPr>
              <a:t>Plastic Deck Pans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37E61597-C0B2-48B3-BE4C-E836873D9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9390" y="2030703"/>
            <a:ext cx="420050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 b="1" i="0">
                <a:solidFill>
                  <a:srgbClr val="202020"/>
                </a:solidFill>
                <a:latin typeface="Aptos"/>
                <a:ea typeface="Aptos"/>
                <a:cs typeface="Aptos"/>
              </a:rPr>
              <a:t>$26.65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737C6A13-91B2-44C6-B05C-03E3793A4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831" y="2030703"/>
            <a:ext cx="606000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0" i="0">
                <a:solidFill>
                  <a:srgbClr val="202020"/>
                </a:solidFill>
                <a:latin typeface="Aptos"/>
                <a:ea typeface="Aptos"/>
                <a:cs typeface="Aptos"/>
              </a:rPr>
              <a:t>9/18/2026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5CC4FFA0-1BD8-4183-B5AA-887980A08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2248" y="2011680"/>
            <a:ext cx="1417320" cy="28346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D7D31"/>
          </a:solidFill>
          <a:ln xmlns:a="http://schemas.openxmlformats.org/drawingml/2006/main">
            <a:solidFill>
              <a:srgbClr val="ED7D3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223BE4B1-BC19-4B81-9F53-651AEE04D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6230" y="2035275"/>
            <a:ext cx="689356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In Progress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C600172C-9875-42FD-B8F9-BB6337089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505456"/>
            <a:ext cx="10972800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FFF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8B4CDB30-F5E9-41DE-BC71-CB2B2901E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2615919"/>
            <a:ext cx="1006750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 i="0">
                <a:solidFill>
                  <a:srgbClr val="202020"/>
                </a:solidFill>
                <a:latin typeface="Aptos"/>
                <a:ea typeface="Aptos"/>
                <a:cs typeface="Aptos"/>
              </a:rPr>
              <a:t>Simplify Raceway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FDCDE888-BB22-4A86-BDDD-FCE396FEA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8318" y="2615919"/>
            <a:ext cx="351122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 b="1" i="0">
                <a:solidFill>
                  <a:srgbClr val="202020"/>
                </a:solidFill>
                <a:latin typeface="Aptos"/>
                <a:ea typeface="Aptos"/>
                <a:cs typeface="Aptos"/>
              </a:rPr>
              <a:t>$3.07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120BB2AA-E486-4E19-8CED-3DF2C90A2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1296" y="2615919"/>
            <a:ext cx="537070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0" i="0">
                <a:solidFill>
                  <a:srgbClr val="202020"/>
                </a:solidFill>
                <a:latin typeface="Aptos"/>
                <a:ea typeface="Aptos"/>
                <a:cs typeface="Aptos"/>
              </a:rPr>
              <a:t>8/7/2026</a:t>
            </a:r>
          </a:p>
        </p:txBody>
      </p:sp>
      <p:sp>
        <p:nvSpPr>
          <p:cNvPr id="24" name="Rounded Rectangle 23">
            <a:extLst xmlns:a="http://schemas.openxmlformats.org/drawingml/2006/main">
              <a:ext uri="{FF2B5EF4-FFF2-40B4-BE49-F238E27FC236}">
                <a16:creationId xmlns:a16="http://schemas.microsoft.com/office/drawing/2014/main" id="{E7B8DC15-7E62-41A4-8CE5-E65E04E82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2248" y="2596896"/>
            <a:ext cx="1417320" cy="28346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D7D31"/>
          </a:solidFill>
          <a:ln xmlns:a="http://schemas.openxmlformats.org/drawingml/2006/main">
            <a:solidFill>
              <a:srgbClr val="ED7D3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5D474610-AE4B-4A95-9F48-6369124F6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6230" y="2620491"/>
            <a:ext cx="689356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In Progress</a:t>
            </a:r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BDC71916-D8FB-498C-9EEF-F75CECC4C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090672"/>
            <a:ext cx="10972800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A"/>
          </a:solidFill>
          <a:ln xmlns:a="http://schemas.openxmlformats.org/drawingml/2006/main">
            <a:solidFill>
              <a:srgbClr val="F2F5F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1581B629-C507-4D2D-84D8-C2E31E420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3201135"/>
            <a:ext cx="974690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 i="0">
                <a:solidFill>
                  <a:srgbClr val="202020"/>
                </a:solidFill>
                <a:latin typeface="Aptos"/>
                <a:ea typeface="Aptos"/>
                <a:cs typeface="Aptos"/>
              </a:rPr>
              <a:t>Case power cord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F92D93E1-32D8-4091-B25A-F991F38A2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8318" y="3201135"/>
            <a:ext cx="351122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 b="1" i="0">
                <a:solidFill>
                  <a:srgbClr val="202020"/>
                </a:solidFill>
                <a:latin typeface="Aptos"/>
                <a:ea typeface="Aptos"/>
                <a:cs typeface="Aptos"/>
              </a:rPr>
              <a:t>$5.49</a:t>
            </a: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BAA46DF7-7517-4FBA-BF3F-215F7DF20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1296" y="3201135"/>
            <a:ext cx="537070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0" i="0">
                <a:solidFill>
                  <a:srgbClr val="202020"/>
                </a:solidFill>
                <a:latin typeface="Aptos"/>
                <a:ea typeface="Aptos"/>
                <a:cs typeface="Aptos"/>
              </a:rPr>
              <a:t>9/1/2026</a:t>
            </a:r>
          </a:p>
        </p:txBody>
      </p:sp>
      <p:sp>
        <p:nvSpPr>
          <p:cNvPr id="30" name="Rounded Rectangle 29">
            <a:extLst xmlns:a="http://schemas.openxmlformats.org/drawingml/2006/main">
              <a:ext uri="{FF2B5EF4-FFF2-40B4-BE49-F238E27FC236}">
                <a16:creationId xmlns:a16="http://schemas.microsoft.com/office/drawing/2014/main" id="{55B0072C-A7C8-4225-9E9C-E484AA5EF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2248" y="3182112"/>
            <a:ext cx="1417320" cy="28346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D7D31"/>
          </a:solidFill>
          <a:ln xmlns:a="http://schemas.openxmlformats.org/drawingml/2006/main">
            <a:solidFill>
              <a:srgbClr val="ED7D3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A168D431-7D1E-44A3-BCC4-340D807C3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6230" y="3205707"/>
            <a:ext cx="689356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In Progress</a:t>
            </a:r>
          </a:p>
        </p:txBody>
      </p:sp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ED7AB294-6514-497E-82C5-AA4E4A4A7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675888"/>
            <a:ext cx="10972800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FFF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990090C5-578D-419F-92B6-6C46A7FC4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3786351"/>
            <a:ext cx="886525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 i="0">
                <a:solidFill>
                  <a:srgbClr val="202020"/>
                </a:solidFill>
                <a:latin typeface="Aptos"/>
                <a:ea typeface="Aptos"/>
                <a:cs typeface="Aptos"/>
              </a:rPr>
              <a:t>10Amp Breaker</a:t>
            </a:r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A578D2B8-F4CD-41D9-A0E1-0543AD531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9390" y="3786351"/>
            <a:ext cx="420050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 b="1" i="0">
                <a:solidFill>
                  <a:srgbClr val="202020"/>
                </a:solidFill>
                <a:latin typeface="Aptos"/>
                <a:ea typeface="Aptos"/>
                <a:cs typeface="Aptos"/>
              </a:rPr>
              <a:t>$32.56</a:t>
            </a: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AC78ECDC-1490-408F-AC8C-25977A4F8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831" y="3786351"/>
            <a:ext cx="606000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0" i="0">
                <a:solidFill>
                  <a:srgbClr val="202020"/>
                </a:solidFill>
                <a:latin typeface="Aptos"/>
                <a:ea typeface="Aptos"/>
                <a:cs typeface="Aptos"/>
              </a:rPr>
              <a:t>8/11/2026</a:t>
            </a:r>
          </a:p>
        </p:txBody>
      </p:sp>
      <p:sp>
        <p:nvSpPr>
          <p:cNvPr id="36" name="Rounded Rectangle 35">
            <a:extLst xmlns:a="http://schemas.openxmlformats.org/drawingml/2006/main">
              <a:ext uri="{FF2B5EF4-FFF2-40B4-BE49-F238E27FC236}">
                <a16:creationId xmlns:a16="http://schemas.microsoft.com/office/drawing/2014/main" id="{FF436290-B638-4BC7-9F84-3DC80751B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2248" y="3767328"/>
            <a:ext cx="1417320" cy="28346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D7D31"/>
          </a:solidFill>
          <a:ln xmlns:a="http://schemas.openxmlformats.org/drawingml/2006/main">
            <a:solidFill>
              <a:srgbClr val="ED7D3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7" name="TextBox 36">
            <a:extLst xmlns:a="http://schemas.openxmlformats.org/drawingml/2006/main">
              <a:ext uri="{FF2B5EF4-FFF2-40B4-BE49-F238E27FC236}">
                <a16:creationId xmlns:a16="http://schemas.microsoft.com/office/drawing/2014/main" id="{AE18C457-982A-4B28-8664-EFA3DFE01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6230" y="3790923"/>
            <a:ext cx="689356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In Progress</a:t>
            </a:r>
          </a:p>
        </p:txBody>
      </p:sp>
      <p:sp>
        <p:nvSpPr>
          <p:cNvPr id="38" name="Rectangle 37">
            <a:extLst xmlns:a="http://schemas.openxmlformats.org/drawingml/2006/main">
              <a:ext uri="{FF2B5EF4-FFF2-40B4-BE49-F238E27FC236}">
                <a16:creationId xmlns:a16="http://schemas.microsoft.com/office/drawing/2014/main" id="{F93DD665-D103-4A2A-8258-4B75E3FD5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4261104"/>
            <a:ext cx="10972800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A"/>
          </a:solidFill>
          <a:ln xmlns:a="http://schemas.openxmlformats.org/drawingml/2006/main">
            <a:solidFill>
              <a:srgbClr val="F2F5F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9" name="TextBox 38">
            <a:extLst xmlns:a="http://schemas.openxmlformats.org/drawingml/2006/main">
              <a:ext uri="{FF2B5EF4-FFF2-40B4-BE49-F238E27FC236}">
                <a16:creationId xmlns:a16="http://schemas.microsoft.com/office/drawing/2014/main" id="{72460CAA-1F78-4E9C-A3BA-5CFE8E1A9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4371567"/>
            <a:ext cx="1614288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 i="0">
                <a:solidFill>
                  <a:srgbClr val="202020"/>
                </a:solidFill>
                <a:latin typeface="Aptos"/>
                <a:ea typeface="Aptos"/>
                <a:cs typeface="Aptos"/>
              </a:rPr>
              <a:t>Simplify Under Door Support</a:t>
            </a:r>
          </a:p>
        </p:txBody>
      </p:sp>
      <p:sp>
        <p:nvSpPr>
          <p:cNvPr id="40" name="TextBox 39">
            <a:extLst xmlns:a="http://schemas.openxmlformats.org/drawingml/2006/main">
              <a:ext uri="{FF2B5EF4-FFF2-40B4-BE49-F238E27FC236}">
                <a16:creationId xmlns:a16="http://schemas.microsoft.com/office/drawing/2014/main" id="{33AA0CFB-DBA6-4223-B8FA-6121CB9DD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8318" y="4371567"/>
            <a:ext cx="351122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 b="1" i="0">
                <a:solidFill>
                  <a:srgbClr val="202020"/>
                </a:solidFill>
                <a:latin typeface="Aptos"/>
                <a:ea typeface="Aptos"/>
                <a:cs typeface="Aptos"/>
              </a:rPr>
              <a:t>$1.48</a:t>
            </a:r>
          </a:p>
        </p:txBody>
      </p:sp>
      <p:sp>
        <p:nvSpPr>
          <p:cNvPr id="41" name="TextBox 40">
            <a:extLst xmlns:a="http://schemas.openxmlformats.org/drawingml/2006/main">
              <a:ext uri="{FF2B5EF4-FFF2-40B4-BE49-F238E27FC236}">
                <a16:creationId xmlns:a16="http://schemas.microsoft.com/office/drawing/2014/main" id="{87639473-FA3F-4CA5-93D7-4428728D4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1296" y="4371567"/>
            <a:ext cx="537070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0" i="0">
                <a:solidFill>
                  <a:srgbClr val="202020"/>
                </a:solidFill>
                <a:latin typeface="Aptos"/>
                <a:ea typeface="Aptos"/>
                <a:cs typeface="Aptos"/>
              </a:rPr>
              <a:t>8/7/2026</a:t>
            </a:r>
          </a:p>
        </p:txBody>
      </p:sp>
      <p:sp>
        <p:nvSpPr>
          <p:cNvPr id="42" name="Rounded Rectangle 41">
            <a:extLst xmlns:a="http://schemas.openxmlformats.org/drawingml/2006/main">
              <a:ext uri="{FF2B5EF4-FFF2-40B4-BE49-F238E27FC236}">
                <a16:creationId xmlns:a16="http://schemas.microsoft.com/office/drawing/2014/main" id="{57A660C1-1988-4D0F-8DA3-61D73DC9C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2248" y="4352544"/>
            <a:ext cx="1417320" cy="28346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D7D31"/>
          </a:solidFill>
          <a:ln xmlns:a="http://schemas.openxmlformats.org/drawingml/2006/main">
            <a:solidFill>
              <a:srgbClr val="ED7D3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3" name="TextBox 42">
            <a:extLst xmlns:a="http://schemas.openxmlformats.org/drawingml/2006/main">
              <a:ext uri="{FF2B5EF4-FFF2-40B4-BE49-F238E27FC236}">
                <a16:creationId xmlns:a16="http://schemas.microsoft.com/office/drawing/2014/main" id="{5E40A410-7C0F-4F43-8F48-907D8DA86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6230" y="4376139"/>
            <a:ext cx="689356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In Progress</a:t>
            </a:r>
          </a:p>
        </p:txBody>
      </p:sp>
      <p:sp>
        <p:nvSpPr>
          <p:cNvPr id="44" name="Rectangle 43">
            <a:extLst xmlns:a="http://schemas.openxmlformats.org/drawingml/2006/main">
              <a:ext uri="{FF2B5EF4-FFF2-40B4-BE49-F238E27FC236}">
                <a16:creationId xmlns:a16="http://schemas.microsoft.com/office/drawing/2014/main" id="{AD5F32A5-298E-462C-8887-833409426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4846320"/>
            <a:ext cx="10972800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FFF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5" name="TextBox 44">
            <a:extLst xmlns:a="http://schemas.openxmlformats.org/drawingml/2006/main">
              <a:ext uri="{FF2B5EF4-FFF2-40B4-BE49-F238E27FC236}">
                <a16:creationId xmlns:a16="http://schemas.microsoft.com/office/drawing/2014/main" id="{68AEA60A-CD0E-44BD-9B8F-354EC0C49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4956783"/>
            <a:ext cx="2083968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 i="0">
                <a:solidFill>
                  <a:srgbClr val="202020"/>
                </a:solidFill>
                <a:latin typeface="Aptos"/>
                <a:ea typeface="Aptos"/>
                <a:cs typeface="Aptos"/>
              </a:rPr>
              <a:t>Reduce Qty of Canopy Foam Backers</a:t>
            </a:r>
          </a:p>
        </p:txBody>
      </p:sp>
      <p:sp>
        <p:nvSpPr>
          <p:cNvPr id="46" name="TextBox 45">
            <a:extLst xmlns:a="http://schemas.openxmlformats.org/drawingml/2006/main">
              <a:ext uri="{FF2B5EF4-FFF2-40B4-BE49-F238E27FC236}">
                <a16:creationId xmlns:a16="http://schemas.microsoft.com/office/drawing/2014/main" id="{7710AC1A-C494-4B2C-B816-234F180CB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8318" y="4956783"/>
            <a:ext cx="351122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 b="1" i="0">
                <a:solidFill>
                  <a:srgbClr val="202020"/>
                </a:solidFill>
                <a:latin typeface="Aptos"/>
                <a:ea typeface="Aptos"/>
                <a:cs typeface="Aptos"/>
              </a:rPr>
              <a:t>$5.27</a:t>
            </a:r>
          </a:p>
        </p:txBody>
      </p:sp>
      <p:sp>
        <p:nvSpPr>
          <p:cNvPr id="47" name="TextBox 46">
            <a:extLst xmlns:a="http://schemas.openxmlformats.org/drawingml/2006/main">
              <a:ext uri="{FF2B5EF4-FFF2-40B4-BE49-F238E27FC236}">
                <a16:creationId xmlns:a16="http://schemas.microsoft.com/office/drawing/2014/main" id="{9B29746F-4B36-4492-942C-55613566B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1296" y="4956783"/>
            <a:ext cx="537070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0" i="0">
                <a:solidFill>
                  <a:srgbClr val="202020"/>
                </a:solidFill>
                <a:latin typeface="Aptos"/>
                <a:ea typeface="Aptos"/>
                <a:cs typeface="Aptos"/>
              </a:rPr>
              <a:t>8/7/2026</a:t>
            </a:r>
          </a:p>
        </p:txBody>
      </p:sp>
      <p:sp>
        <p:nvSpPr>
          <p:cNvPr id="48" name="Rounded Rectangle 47">
            <a:extLst xmlns:a="http://schemas.openxmlformats.org/drawingml/2006/main">
              <a:ext uri="{FF2B5EF4-FFF2-40B4-BE49-F238E27FC236}">
                <a16:creationId xmlns:a16="http://schemas.microsoft.com/office/drawing/2014/main" id="{C9A8FF15-9AF0-41D6-8ADC-F0A6D91B9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2248" y="4937759"/>
            <a:ext cx="1417320" cy="28346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D7D31"/>
          </a:solidFill>
          <a:ln xmlns:a="http://schemas.openxmlformats.org/drawingml/2006/main">
            <a:solidFill>
              <a:srgbClr val="ED7D3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9" name="TextBox 48">
            <a:extLst xmlns:a="http://schemas.openxmlformats.org/drawingml/2006/main">
              <a:ext uri="{FF2B5EF4-FFF2-40B4-BE49-F238E27FC236}">
                <a16:creationId xmlns:a16="http://schemas.microsoft.com/office/drawing/2014/main" id="{86CEDB2D-0871-4389-B053-2100120D1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6230" y="4961355"/>
            <a:ext cx="689356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In Progress</a:t>
            </a:r>
          </a:p>
        </p:txBody>
      </p:sp>
      <p:sp>
        <p:nvSpPr>
          <p:cNvPr id="50" name="Rectangle 49">
            <a:extLst xmlns:a="http://schemas.openxmlformats.org/drawingml/2006/main">
              <a:ext uri="{FF2B5EF4-FFF2-40B4-BE49-F238E27FC236}">
                <a16:creationId xmlns:a16="http://schemas.microsoft.com/office/drawing/2014/main" id="{089FAA0E-521D-44BA-96EB-6A4AD466E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431536"/>
            <a:ext cx="10972800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A"/>
          </a:solidFill>
          <a:ln xmlns:a="http://schemas.openxmlformats.org/drawingml/2006/main">
            <a:solidFill>
              <a:srgbClr val="F2F5F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1" name="TextBox 50">
            <a:extLst xmlns:a="http://schemas.openxmlformats.org/drawingml/2006/main">
              <a:ext uri="{FF2B5EF4-FFF2-40B4-BE49-F238E27FC236}">
                <a16:creationId xmlns:a16="http://schemas.microsoft.com/office/drawing/2014/main" id="{80156428-5DCF-4A5C-9E37-51D680E3B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5541999"/>
            <a:ext cx="812787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 i="0">
                <a:solidFill>
                  <a:srgbClr val="202020"/>
                </a:solidFill>
                <a:latin typeface="Aptos"/>
                <a:ea typeface="Aptos"/>
                <a:cs typeface="Aptos"/>
              </a:rPr>
              <a:t>Remove Drain</a:t>
            </a:r>
          </a:p>
        </p:txBody>
      </p:sp>
      <p:sp>
        <p:nvSpPr>
          <p:cNvPr id="52" name="TextBox 51">
            <a:extLst xmlns:a="http://schemas.openxmlformats.org/drawingml/2006/main">
              <a:ext uri="{FF2B5EF4-FFF2-40B4-BE49-F238E27FC236}">
                <a16:creationId xmlns:a16="http://schemas.microsoft.com/office/drawing/2014/main" id="{6F13317E-0196-400E-B78B-60147C9EF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8318" y="5541999"/>
            <a:ext cx="351122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 b="1" i="0">
                <a:solidFill>
                  <a:srgbClr val="202020"/>
                </a:solidFill>
                <a:latin typeface="Aptos"/>
                <a:ea typeface="Aptos"/>
                <a:cs typeface="Aptos"/>
              </a:rPr>
              <a:t>$3.77</a:t>
            </a:r>
          </a:p>
        </p:txBody>
      </p:sp>
      <p:sp>
        <p:nvSpPr>
          <p:cNvPr id="53" name="TextBox 52">
            <a:extLst xmlns:a="http://schemas.openxmlformats.org/drawingml/2006/main">
              <a:ext uri="{FF2B5EF4-FFF2-40B4-BE49-F238E27FC236}">
                <a16:creationId xmlns:a16="http://schemas.microsoft.com/office/drawing/2014/main" id="{9FD5F61A-1593-4474-AA64-F6598A556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831" y="5541999"/>
            <a:ext cx="606000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0" i="0">
                <a:solidFill>
                  <a:srgbClr val="202020"/>
                </a:solidFill>
                <a:latin typeface="Aptos"/>
                <a:ea typeface="Aptos"/>
                <a:cs typeface="Aptos"/>
              </a:rPr>
              <a:t>8/12/2026</a:t>
            </a:r>
          </a:p>
        </p:txBody>
      </p:sp>
      <p:sp>
        <p:nvSpPr>
          <p:cNvPr id="54" name="Rounded Rectangle 53">
            <a:extLst xmlns:a="http://schemas.openxmlformats.org/drawingml/2006/main">
              <a:ext uri="{FF2B5EF4-FFF2-40B4-BE49-F238E27FC236}">
                <a16:creationId xmlns:a16="http://schemas.microsoft.com/office/drawing/2014/main" id="{6622ECE2-7619-4442-9337-86E056C16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2248" y="5522975"/>
            <a:ext cx="1417320" cy="28346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D7D31"/>
          </a:solidFill>
          <a:ln xmlns:a="http://schemas.openxmlformats.org/drawingml/2006/main">
            <a:solidFill>
              <a:srgbClr val="ED7D3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5" name="TextBox 54">
            <a:extLst xmlns:a="http://schemas.openxmlformats.org/drawingml/2006/main">
              <a:ext uri="{FF2B5EF4-FFF2-40B4-BE49-F238E27FC236}">
                <a16:creationId xmlns:a16="http://schemas.microsoft.com/office/drawing/2014/main" id="{2320E07B-AFD7-4171-A8BF-6D03E9540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6230" y="5546571"/>
            <a:ext cx="689356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In Progress</a:t>
            </a:r>
          </a:p>
        </p:txBody>
      </p:sp>
    </p:spTree>
    <p:extLst>
      <p:ext uri="{BB962C8B-B14F-4D97-AF65-F5344CB8AC3E}">
        <p14:creationId xmlns:p14="http://schemas.microsoft.com/office/powerpoint/2010/main" val="852269912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2026-07-31T03:05:08.2940000Z</dcterms:created>
  <dcterms:modified xsi:type="dcterms:W3CDTF">2026-07-31T03:05:08.2940000Z</dcterms:modified>
</coreProperties>
</file>